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notesMasterIdLst>
    <p:notesMasterId r:id="rId8"/>
  </p:notesMasterIdLst>
  <p:sldIdLst>
    <p:sldId id="256" r:id="rId2"/>
    <p:sldId id="274" r:id="rId3"/>
    <p:sldId id="279" r:id="rId4"/>
    <p:sldId id="276" r:id="rId5"/>
    <p:sldId id="269" r:id="rId6"/>
    <p:sldId id="278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63" autoAdjust="0"/>
    <p:restoredTop sz="94660"/>
  </p:normalViewPr>
  <p:slideViewPr>
    <p:cSldViewPr snapToGrid="0">
      <p:cViewPr varScale="1">
        <p:scale>
          <a:sx n="79" d="100"/>
          <a:sy n="79" d="100"/>
        </p:scale>
        <p:origin x="68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7A6946-08ED-4E56-B179-99096FD9757E}" type="datetimeFigureOut">
              <a:rPr lang="en-US" smtClean="0"/>
              <a:t>8/21/2023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E81741-1E01-4ECD-B53A-57B3F28FDD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62934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9789E2-B310-4A82-83A4-04871AC5F730}" type="datetimeFigureOut">
              <a:rPr lang="en-US" smtClean="0"/>
              <a:t>8/21/2023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67102-73D5-4F97-A731-30F8CDE4BD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59572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9789E2-B310-4A82-83A4-04871AC5F730}" type="datetimeFigureOut">
              <a:rPr lang="en-US" smtClean="0"/>
              <a:t>8/21/2023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67102-73D5-4F97-A731-30F8CDE4BD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28495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9789E2-B310-4A82-83A4-04871AC5F730}" type="datetimeFigureOut">
              <a:rPr lang="en-US" smtClean="0"/>
              <a:t>8/21/2023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67102-73D5-4F97-A731-30F8CDE4BD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35438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9789E2-B310-4A82-83A4-04871AC5F730}" type="datetimeFigureOut">
              <a:rPr lang="en-US" smtClean="0"/>
              <a:t>8/21/2023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67102-73D5-4F97-A731-30F8CDE4BD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68043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9789E2-B310-4A82-83A4-04871AC5F730}" type="datetimeFigureOut">
              <a:rPr lang="en-US" smtClean="0"/>
              <a:t>8/21/2023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67102-73D5-4F97-A731-30F8CDE4BD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3046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9789E2-B310-4A82-83A4-04871AC5F730}" type="datetimeFigureOut">
              <a:rPr lang="en-US" smtClean="0"/>
              <a:t>8/21/2023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67102-73D5-4F97-A731-30F8CDE4BD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77659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9789E2-B310-4A82-83A4-04871AC5F730}" type="datetimeFigureOut">
              <a:rPr lang="en-US" smtClean="0"/>
              <a:t>8/21/2023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67102-73D5-4F97-A731-30F8CDE4BD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70935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9789E2-B310-4A82-83A4-04871AC5F730}" type="datetimeFigureOut">
              <a:rPr lang="en-US" smtClean="0"/>
              <a:t>8/21/2023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67102-73D5-4F97-A731-30F8CDE4BD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4570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9789E2-B310-4A82-83A4-04871AC5F730}" type="datetimeFigureOut">
              <a:rPr lang="en-US" smtClean="0"/>
              <a:t>8/21/2023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67102-73D5-4F97-A731-30F8CDE4BD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13174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9789E2-B310-4A82-83A4-04871AC5F730}" type="datetimeFigureOut">
              <a:rPr lang="en-US" smtClean="0"/>
              <a:t>8/21/2023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67102-73D5-4F97-A731-30F8CDE4BD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70529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9789E2-B310-4A82-83A4-04871AC5F730}" type="datetimeFigureOut">
              <a:rPr lang="en-US" smtClean="0"/>
              <a:t>8/21/2023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67102-73D5-4F97-A731-30F8CDE4BD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21197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9789E2-B310-4A82-83A4-04871AC5F730}" type="datetimeFigureOut">
              <a:rPr lang="en-US" smtClean="0"/>
              <a:t>8/21/2023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867102-73D5-4F97-A731-30F8CDE4BD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92623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</p:sldLayoutIdLst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109/ISED.2010.16" TargetMode="External"/><Relationship Id="rId2" Type="http://schemas.openxmlformats.org/officeDocument/2006/relationships/hyperlink" Target="https://doi.org/10.1016/j.eswa.2011.01.051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/>
        </p:nvGrpSpPr>
        <p:grpSpPr>
          <a:xfrm>
            <a:off x="0" y="76200"/>
            <a:ext cx="12192000" cy="5922956"/>
            <a:chOff x="0" y="0"/>
            <a:chExt cx="9144000" cy="5922955"/>
          </a:xfrm>
        </p:grpSpPr>
        <p:grpSp>
          <p:nvGrpSpPr>
            <p:cNvPr id="5" name="Group 4"/>
            <p:cNvGrpSpPr/>
            <p:nvPr/>
          </p:nvGrpSpPr>
          <p:grpSpPr>
            <a:xfrm>
              <a:off x="0" y="1070428"/>
              <a:ext cx="9144000" cy="4852527"/>
              <a:chOff x="0" y="765628"/>
              <a:chExt cx="9144000" cy="4852527"/>
            </a:xfrm>
          </p:grpSpPr>
          <p:sp>
            <p:nvSpPr>
              <p:cNvPr id="9" name="Rectangle 8"/>
              <p:cNvSpPr/>
              <p:nvPr/>
            </p:nvSpPr>
            <p:spPr>
              <a:xfrm>
                <a:off x="0" y="765628"/>
                <a:ext cx="9144000" cy="1215571"/>
              </a:xfrm>
              <a:prstGeom prst="rect">
                <a:avLst/>
              </a:prstGeom>
            </p:spPr>
            <p:style>
              <a:lnRef idx="1">
                <a:schemeClr val="accent5"/>
              </a:lnRef>
              <a:fillRef idx="3">
                <a:schemeClr val="accent5"/>
              </a:fillRef>
              <a:effectRef idx="2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4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Title </a:t>
                </a:r>
              </a:p>
            </p:txBody>
          </p:sp>
          <p:sp>
            <p:nvSpPr>
              <p:cNvPr id="10" name="Rectangle 9"/>
              <p:cNvSpPr/>
              <p:nvPr/>
            </p:nvSpPr>
            <p:spPr>
              <a:xfrm>
                <a:off x="155575" y="2811484"/>
                <a:ext cx="4932620" cy="1692233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t"/>
              <a:lstStyle/>
              <a:p>
                <a:pPr marL="342891" indent="-342891">
                  <a:lnSpc>
                    <a:spcPct val="150000"/>
                  </a:lnSpc>
                  <a:buAutoNum type="arabicPeriod"/>
                </a:pPr>
                <a:r>
                  <a:rPr lang="en-US" b="1" i="1" dirty="0">
                    <a:highlight>
                      <a:srgbClr val="FFFF00"/>
                    </a:highligh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Lokeshwaran M (17130001),  8</a:t>
                </a:r>
                <a:r>
                  <a:rPr lang="en-US" b="1" i="1" baseline="30000" dirty="0">
                    <a:highlight>
                      <a:srgbClr val="FFFF00"/>
                    </a:highligh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</a:t>
                </a:r>
                <a:r>
                  <a:rPr lang="en-US" b="1" i="1" dirty="0">
                    <a:highlight>
                      <a:srgbClr val="FFFF00"/>
                    </a:highligh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Semester Mechatronics</a:t>
                </a:r>
              </a:p>
              <a:p>
                <a:pPr marL="342891" indent="-342891">
                  <a:lnSpc>
                    <a:spcPct val="150000"/>
                  </a:lnSpc>
                  <a:buAutoNum type="arabicPeriod"/>
                </a:pPr>
                <a:r>
                  <a:rPr lang="en-US" b="1" i="1" dirty="0">
                    <a:highlight>
                      <a:srgbClr val="FFFF00"/>
                    </a:highligh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Nikhit Mathew S P (17130007), 8</a:t>
                </a:r>
                <a:r>
                  <a:rPr lang="en-US" b="1" i="1" baseline="30000" dirty="0">
                    <a:highlight>
                      <a:srgbClr val="FFFF00"/>
                    </a:highligh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</a:t>
                </a:r>
                <a:r>
                  <a:rPr lang="en-US" b="1" i="1" dirty="0">
                    <a:highlight>
                      <a:srgbClr val="FFFF00"/>
                    </a:highligh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Semester Mechatronics</a:t>
                </a:r>
              </a:p>
              <a:p>
                <a:pPr marL="342891" indent="-342891">
                  <a:lnSpc>
                    <a:spcPct val="150000"/>
                  </a:lnSpc>
                  <a:buAutoNum type="arabicPeriod"/>
                </a:pPr>
                <a:r>
                  <a:rPr lang="en-US" b="1" i="1" dirty="0">
                    <a:highlight>
                      <a:srgbClr val="FFFF00"/>
                    </a:highligh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Adithya Krishna K M (17130011), 8</a:t>
                </a:r>
                <a:r>
                  <a:rPr lang="en-US" b="1" i="1" baseline="30000" dirty="0">
                    <a:highlight>
                      <a:srgbClr val="FFFF00"/>
                    </a:highligh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</a:t>
                </a:r>
                <a:r>
                  <a:rPr lang="en-US" b="1" i="1" dirty="0">
                    <a:highlight>
                      <a:srgbClr val="FFFF00"/>
                    </a:highligh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Semester Mechatronics</a:t>
                </a:r>
              </a:p>
              <a:p>
                <a:pPr marL="342891" indent="-342891">
                  <a:lnSpc>
                    <a:spcPct val="150000"/>
                  </a:lnSpc>
                  <a:buAutoNum type="arabicPeriod"/>
                </a:pPr>
                <a:r>
                  <a:rPr lang="en-US" b="1" i="1" dirty="0">
                    <a:highlight>
                      <a:srgbClr val="FFFF00"/>
                    </a:highligh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Taarun Srinivas (17130012), 8</a:t>
                </a:r>
                <a:r>
                  <a:rPr lang="en-US" b="1" i="1" baseline="30000" dirty="0">
                    <a:highlight>
                      <a:srgbClr val="FFFF00"/>
                    </a:highligh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</a:t>
                </a:r>
                <a:r>
                  <a:rPr lang="en-US" b="1" i="1" dirty="0">
                    <a:highlight>
                      <a:srgbClr val="FFFF00"/>
                    </a:highligh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Semester Mechatronics</a:t>
                </a:r>
              </a:p>
              <a:p>
                <a:endParaRPr lang="en-US" sz="1600" b="1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342891" indent="-342891">
                  <a:buAutoNum type="arabicPeriod"/>
                </a:pPr>
                <a:endParaRPr lang="en-US" sz="1600" b="1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1" name="Rectangle 10"/>
              <p:cNvSpPr/>
              <p:nvPr/>
            </p:nvSpPr>
            <p:spPr>
              <a:xfrm>
                <a:off x="5048306" y="4675416"/>
                <a:ext cx="3924189" cy="942739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t"/>
              <a:lstStyle/>
              <a:p>
                <a:pPr>
                  <a:lnSpc>
                    <a:spcPct val="150000"/>
                  </a:lnSpc>
                </a:pPr>
                <a:r>
                  <a:rPr lang="en-US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PROJECT GUIDE:</a:t>
                </a:r>
              </a:p>
              <a:p>
                <a:pPr marL="342891" indent="-342891">
                  <a:lnSpc>
                    <a:spcPct val="150000"/>
                  </a:lnSpc>
                </a:pPr>
                <a:r>
                  <a:rPr lang="en-US" b="1" i="1" dirty="0">
                    <a:highlight>
                      <a:srgbClr val="FFFF00"/>
                    </a:highligh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&lt;Dr / </a:t>
                </a:r>
                <a:r>
                  <a:rPr lang="en-US" b="1" i="1" dirty="0" err="1">
                    <a:highlight>
                      <a:srgbClr val="FFFF00"/>
                    </a:highligh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Mr</a:t>
                </a:r>
                <a:r>
                  <a:rPr lang="en-US" b="1" i="1" dirty="0">
                    <a:highlight>
                      <a:srgbClr val="FFFF00"/>
                    </a:highligh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/ </a:t>
                </a:r>
                <a:r>
                  <a:rPr lang="en-US" b="1" i="1" dirty="0" err="1">
                    <a:highlight>
                      <a:srgbClr val="FFFF00"/>
                    </a:highligh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Ms</a:t>
                </a:r>
                <a:r>
                  <a:rPr lang="en-US" b="1" i="1" dirty="0">
                    <a:highlight>
                      <a:srgbClr val="FFFF00"/>
                    </a:highligh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&gt; &lt;Name of Guide / Co-Guide&gt;</a:t>
                </a:r>
              </a:p>
            </p:txBody>
          </p:sp>
        </p:grpSp>
        <p:pic>
          <p:nvPicPr>
            <p:cNvPr id="6" name="Picture 4" descr="https://ci5.googleusercontent.com/proxy/kpecuzp6FIQvIVMuH9dVZbVvrgQcdnBvBIf6oIh1iDWOdGve6j4zNGpvpRiMdWvSKYulVPtyLN1AB09T0-rC1CCkDSOeNWAUmm3r07vN2NTs7Vs01CCkbFk1=s0-d-e1-ft#https://hindustanuniv.ac.in/assets/images/HITS_New%20Logo_361x61.png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5575" y="88616"/>
              <a:ext cx="2514600" cy="61800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" name="Picture 4" descr="Image result for anro logo hindustan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412182" y="0"/>
              <a:ext cx="1600200" cy="80917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8" name="Rounded Rectangle 7"/>
            <p:cNvSpPr/>
            <p:nvPr/>
          </p:nvSpPr>
          <p:spPr>
            <a:xfrm>
              <a:off x="2133600" y="2362200"/>
              <a:ext cx="4876800" cy="381000"/>
            </a:xfrm>
            <a:prstGeom prst="roundRect">
              <a:avLst/>
            </a:prstGeom>
          </p:spPr>
          <p:style>
            <a:lnRef idx="1">
              <a:schemeClr val="accent5"/>
            </a:lnRef>
            <a:fillRef idx="3">
              <a:schemeClr val="accent5"/>
            </a:fillRef>
            <a:effectRef idx="2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ZEROTH REVIEW – &lt;Date&gt;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6000232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14135"/>
            <a:ext cx="12192000" cy="948267"/>
          </a:xfr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Content Placeholder 2">
            <a:extLst>
              <a:ext uri="{FF2B5EF4-FFF2-40B4-BE49-F238E27FC236}">
                <a16:creationId xmlns:a16="http://schemas.microsoft.com/office/drawing/2014/main" id="{D465864C-22D0-420C-A277-AF1C50F23A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2500" y="1131278"/>
            <a:ext cx="10515600" cy="3344928"/>
          </a:xfrm>
        </p:spPr>
        <p:txBody>
          <a:bodyPr>
            <a:noAutofit/>
          </a:bodyPr>
          <a:lstStyle/>
          <a:p>
            <a:pPr algn="just">
              <a:lnSpc>
                <a:spcPct val="160000"/>
              </a:lnSpc>
            </a:pPr>
            <a:r>
              <a:rPr lang="en-US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Introduce your work</a:t>
            </a:r>
          </a:p>
          <a:p>
            <a:pPr algn="just">
              <a:lnSpc>
                <a:spcPct val="160000"/>
              </a:lnSpc>
            </a:pPr>
            <a:r>
              <a:rPr lang="en-US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Can contain Images, Back ground information etc.</a:t>
            </a:r>
          </a:p>
          <a:p>
            <a:pPr algn="just">
              <a:lnSpc>
                <a:spcPct val="160000"/>
              </a:lnSpc>
            </a:pPr>
            <a:r>
              <a:rPr lang="en-US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Need and Importance</a:t>
            </a:r>
          </a:p>
        </p:txBody>
      </p:sp>
    </p:spTree>
    <p:extLst>
      <p:ext uri="{BB962C8B-B14F-4D97-AF65-F5344CB8AC3E}">
        <p14:creationId xmlns:p14="http://schemas.microsoft.com/office/powerpoint/2010/main" val="8016686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14135"/>
            <a:ext cx="12192000" cy="948267"/>
          </a:xfr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Content Placeholder 2">
            <a:extLst>
              <a:ext uri="{FF2B5EF4-FFF2-40B4-BE49-F238E27FC236}">
                <a16:creationId xmlns:a16="http://schemas.microsoft.com/office/drawing/2014/main" id="{D465864C-22D0-420C-A277-AF1C50F23A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2500" y="1131278"/>
            <a:ext cx="10515600" cy="3344928"/>
          </a:xfrm>
        </p:spPr>
        <p:txBody>
          <a:bodyPr>
            <a:noAutofit/>
          </a:bodyPr>
          <a:lstStyle/>
          <a:p>
            <a:pPr algn="just">
              <a:lnSpc>
                <a:spcPct val="160000"/>
              </a:lnSpc>
            </a:pPr>
            <a:r>
              <a:rPr lang="en-US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Research Gap</a:t>
            </a:r>
          </a:p>
          <a:p>
            <a:pPr algn="just">
              <a:lnSpc>
                <a:spcPct val="160000"/>
              </a:lnSpc>
            </a:pPr>
            <a:r>
              <a:rPr lang="en-US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From how the problem is defined</a:t>
            </a:r>
          </a:p>
          <a:p>
            <a:pPr algn="just">
              <a:lnSpc>
                <a:spcPct val="160000"/>
              </a:lnSpc>
            </a:pPr>
            <a:r>
              <a:rPr lang="en-US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Problem Definition</a:t>
            </a:r>
          </a:p>
        </p:txBody>
      </p:sp>
    </p:spTree>
    <p:extLst>
      <p:ext uri="{BB962C8B-B14F-4D97-AF65-F5344CB8AC3E}">
        <p14:creationId xmlns:p14="http://schemas.microsoft.com/office/powerpoint/2010/main" val="5925018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14135"/>
            <a:ext cx="12192000" cy="948267"/>
          </a:xfr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Content Placeholder 2">
            <a:extLst>
              <a:ext uri="{FF2B5EF4-FFF2-40B4-BE49-F238E27FC236}">
                <a16:creationId xmlns:a16="http://schemas.microsoft.com/office/drawing/2014/main" id="{D465864C-22D0-420C-A277-AF1C50F23A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2500" y="1131278"/>
            <a:ext cx="10515600" cy="2297722"/>
          </a:xfrm>
        </p:spPr>
        <p:txBody>
          <a:bodyPr>
            <a:noAutofit/>
          </a:bodyPr>
          <a:lstStyle/>
          <a:p>
            <a:pPr algn="just">
              <a:lnSpc>
                <a:spcPct val="17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you plan to achieve by the end of your project.</a:t>
            </a:r>
          </a:p>
          <a:p>
            <a:pPr algn="just">
              <a:lnSpc>
                <a:spcPct val="170000"/>
              </a:lnSpc>
            </a:pPr>
            <a:r>
              <a:rPr lang="en-US" dirty="0">
                <a:solidFill>
                  <a:srgbClr val="2A2B2C"/>
                </a:solidFill>
                <a:latin typeface="gordita"/>
              </a:rPr>
              <a:t>P</a:t>
            </a:r>
            <a:r>
              <a:rPr lang="en-US" b="0" i="0" dirty="0">
                <a:solidFill>
                  <a:srgbClr val="2A2B2C"/>
                </a:solidFill>
                <a:effectLst/>
                <a:latin typeface="gordita"/>
              </a:rPr>
              <a:t>roject objectives should be attainable, time-bound, specific goals you can measure at the end of your project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74D4DA0-7747-1AA7-D53F-3F61119E67A7}"/>
              </a:ext>
            </a:extLst>
          </p:cNvPr>
          <p:cNvSpPr txBox="1"/>
          <p:nvPr/>
        </p:nvSpPr>
        <p:spPr>
          <a:xfrm>
            <a:off x="1090247" y="3833336"/>
            <a:ext cx="6099348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SCOPE OF PROJECT: How to derive</a:t>
            </a:r>
          </a:p>
          <a:p>
            <a:endParaRPr lang="en-US" dirty="0"/>
          </a:p>
          <a:p>
            <a:r>
              <a:rPr lang="en-US" dirty="0"/>
              <a:t>Step 1: Define the goals. ...</a:t>
            </a:r>
          </a:p>
          <a:p>
            <a:r>
              <a:rPr lang="en-US" dirty="0"/>
              <a:t>Step 2: Define potential obstacles. ...</a:t>
            </a:r>
          </a:p>
          <a:p>
            <a:r>
              <a:rPr lang="en-US" dirty="0"/>
              <a:t>Step 3: Identify necessary resources. ...</a:t>
            </a:r>
          </a:p>
          <a:p>
            <a:r>
              <a:rPr lang="en-US" dirty="0"/>
              <a:t>Step 4: Provide a milestone schedule. ...</a:t>
            </a:r>
          </a:p>
          <a:p>
            <a:r>
              <a:rPr lang="en-US" dirty="0"/>
              <a:t>Step 5: List the stakeholders.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790236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" y="0"/>
            <a:ext cx="12160929" cy="1000125"/>
          </a:xfr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OUTCOMES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438154" y="1171578"/>
            <a:ext cx="11468100" cy="5467351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 completion of this project, we are expected to achieve the following outcomes.</a:t>
            </a:r>
          </a:p>
        </p:txBody>
      </p:sp>
    </p:spTree>
    <p:extLst>
      <p:ext uri="{BB962C8B-B14F-4D97-AF65-F5344CB8AC3E}">
        <p14:creationId xmlns:p14="http://schemas.microsoft.com/office/powerpoint/2010/main" val="34014303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960" y="222046"/>
            <a:ext cx="12193960" cy="1131948"/>
          </a:xfr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2D7E2AE-E344-994E-003B-3CD5A36BB0CE}"/>
              </a:ext>
            </a:extLst>
          </p:cNvPr>
          <p:cNvSpPr txBox="1"/>
          <p:nvPr/>
        </p:nvSpPr>
        <p:spPr>
          <a:xfrm>
            <a:off x="748602" y="1553196"/>
            <a:ext cx="10957728" cy="34531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Latha" panose="020B0604020202020204" pitchFamily="34" charset="0"/>
              </a:rPr>
              <a:t>Lin, Feng-Cheng, </a:t>
            </a:r>
            <a:r>
              <a:rPr lang="en-US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Latha" panose="020B0604020202020204" pitchFamily="34" charset="0"/>
              </a:rPr>
              <a:t>Hsin</a:t>
            </a: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Latha" panose="020B0604020202020204" pitchFamily="34" charset="0"/>
              </a:rPr>
              <a:t>-Wen Yu, </a:t>
            </a:r>
            <a:r>
              <a:rPr lang="en-US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Latha" panose="020B0604020202020204" pitchFamily="34" charset="0"/>
              </a:rPr>
              <a:t>Chih</a:t>
            </a: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Latha" panose="020B0604020202020204" pitchFamily="34" charset="0"/>
              </a:rPr>
              <a:t>-Hao Hsu, and Tzu-Chun Weng. 2011. “Recommendation System for Localized Products in Vending Machines.” Expert Systems with Applications 38 (8): 9129–38. </a:t>
            </a: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Latha" panose="020B0604020202020204" pitchFamily="34" charset="0"/>
                <a:hlinkClick r:id="rId2"/>
              </a:rPr>
              <a:t>https://doi.org/10.1016/j.eswa.2011.01.051</a:t>
            </a: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Latha" panose="020B0604020202020204" pitchFamily="34" charset="0"/>
              </a:rPr>
              <a:t>.</a:t>
            </a:r>
          </a:p>
          <a:p>
            <a:pPr marL="34290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en-US" dirty="0">
                <a:effectLst/>
              </a:rPr>
              <a:t>Roy, B, and B Mukherjee. 2010. “Design of a Coffee Vending Machine Using Single Electron Devices: (An Example of Sequential Circuit Design).” In </a:t>
            </a:r>
            <a:r>
              <a:rPr lang="en-US" i="1" dirty="0">
                <a:effectLst/>
              </a:rPr>
              <a:t>2010 International Symposium on Electronic System Design</a:t>
            </a:r>
            <a:r>
              <a:rPr lang="en-US" dirty="0">
                <a:effectLst/>
              </a:rPr>
              <a:t>, 38–43. IEEE. </a:t>
            </a:r>
            <a:r>
              <a:rPr lang="en-US" dirty="0">
                <a:effectLst/>
                <a:hlinkClick r:id="rId3"/>
              </a:rPr>
              <a:t>https://doi.org/10.1109/ISED.2010.16</a:t>
            </a:r>
            <a:r>
              <a:rPr lang="en-US" dirty="0">
                <a:effectLst/>
              </a:rPr>
              <a:t>.</a:t>
            </a:r>
          </a:p>
          <a:p>
            <a:pPr marL="34290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en-US" dirty="0" err="1">
                <a:effectLst/>
              </a:rPr>
              <a:t>Bodhale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Asmitha.P</a:t>
            </a:r>
            <a:r>
              <a:rPr lang="en-US" dirty="0">
                <a:effectLst/>
              </a:rPr>
              <a:t>, Kulkarni J.S. 2017. “Case Studies on Different Vending Machines.” </a:t>
            </a:r>
            <a:r>
              <a:rPr lang="en-US" i="1" dirty="0">
                <a:effectLst/>
              </a:rPr>
              <a:t>International Research Journal of Engineering and Technology</a:t>
            </a:r>
            <a:r>
              <a:rPr lang="en-US" dirty="0">
                <a:effectLst/>
              </a:rPr>
              <a:t> 4 (4): 3351–55.</a:t>
            </a:r>
          </a:p>
          <a:p>
            <a:pPr marL="34290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</a:pPr>
            <a:endParaRPr lang="en-US" dirty="0">
              <a:effectLst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en-IN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Latha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632462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862</TotalTime>
  <Words>324</Words>
  <Application>Microsoft Office PowerPoint</Application>
  <PresentationFormat>Widescreen</PresentationFormat>
  <Paragraphs>33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Calibri Light</vt:lpstr>
      <vt:lpstr>gordita</vt:lpstr>
      <vt:lpstr>Times New Roman</vt:lpstr>
      <vt:lpstr>Office Theme</vt:lpstr>
      <vt:lpstr>PowerPoint Presentation</vt:lpstr>
      <vt:lpstr>INTRODUCTION</vt:lpstr>
      <vt:lpstr>PROBLEM STATEMENT</vt:lpstr>
      <vt:lpstr>OBJECTIVE</vt:lpstr>
      <vt:lpstr>PROJECT OUTCOMES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Nikhit Mathew Stephen</dc:creator>
  <cp:lastModifiedBy>KUPPAN CHETTY RM</cp:lastModifiedBy>
  <cp:revision>88</cp:revision>
  <dcterms:created xsi:type="dcterms:W3CDTF">2020-01-11T03:19:40Z</dcterms:created>
  <dcterms:modified xsi:type="dcterms:W3CDTF">2023-08-21T07:21:48Z</dcterms:modified>
</cp:coreProperties>
</file>